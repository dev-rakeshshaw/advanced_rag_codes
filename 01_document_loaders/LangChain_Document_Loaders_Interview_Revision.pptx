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00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76072"/>
            <a:ext cx="11384280" cy="0"/>
          </a:xfrm>
          <a:prstGeom prst="line">
            <a:avLst/>
          </a:prstGeom>
          <a:noFill/>
          <a:ln w="1397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7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 • INTERVIEW REVISION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565392"/>
            <a:ext cx="11384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877E"/>
                </a:solidFill>
              </a:rPr>
              <a:t>Source basis: provided notebooks + supporting files | Refreshed against LangChain Reference (24 Sep 2026)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5836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258568"/>
            <a:ext cx="5212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F7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• CSV • JSON • PDF • Web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2670048"/>
            <a:ext cx="5806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notebook-to-interview revision deck: code, output granularity, metadata, extraction mechanics, OCR, crawling, lazy loading, and RAG hand-off.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3F7F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4297680"/>
            <a:ext cx="402336" cy="402336"/>
          </a:xfrm>
          <a:prstGeom prst="ellipse">
            <a:avLst/>
          </a:prstGeom>
          <a:solidFill>
            <a:srgbClr val="3F7FB3"/>
          </a:solidFill>
          <a:ln w="12700">
            <a:solidFill>
              <a:srgbClr val="3F7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4370832"/>
            <a:ext cx="4023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353312" y="4270248"/>
            <a:ext cx="12984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TextLoader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4572000"/>
            <a:ext cx="12984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transformers.txt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953512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5C9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4297680"/>
            <a:ext cx="402336" cy="402336"/>
          </a:xfrm>
          <a:prstGeom prst="ellipse">
            <a:avLst/>
          </a:prstGeom>
          <a:solidFill>
            <a:srgbClr val="5C9B55"/>
          </a:solidFill>
          <a:ln w="12700">
            <a:solidFill>
              <a:srgbClr val="5C9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4370832"/>
            <a:ext cx="4023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575304" y="4270248"/>
            <a:ext cx="12984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CSVLoader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5304" y="4572000"/>
            <a:ext cx="12984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organizations.csv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175504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876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94376" y="4297680"/>
            <a:ext cx="402336" cy="402336"/>
          </a:xfrm>
          <a:prstGeom prst="ellipse">
            <a:avLst/>
          </a:prstGeom>
          <a:solidFill>
            <a:srgbClr val="8768A8"/>
          </a:solidFill>
          <a:ln w="12700">
            <a:solidFill>
              <a:srgbClr val="876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4370832"/>
            <a:ext cx="4023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797296" y="4270248"/>
            <a:ext cx="12984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JSONLoader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97296" y="4572000"/>
            <a:ext cx="12984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apparels.json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397496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982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4297680"/>
            <a:ext cx="402336" cy="402336"/>
          </a:xfrm>
          <a:prstGeom prst="ellipse">
            <a:avLst/>
          </a:prstGeom>
          <a:solidFill>
            <a:srgbClr val="C9823B"/>
          </a:solidFill>
          <a:ln w="12700">
            <a:solidFill>
              <a:srgbClr val="C98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4370832"/>
            <a:ext cx="4023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8019288" y="4270248"/>
            <a:ext cx="12984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 / Miner / Plumber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19288" y="4572000"/>
            <a:ext cx="12984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attention_is_all_you_need.pdf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619488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4E92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38360" y="4297680"/>
            <a:ext cx="402336" cy="402336"/>
          </a:xfrm>
          <a:prstGeom prst="ellipse">
            <a:avLst/>
          </a:prstGeom>
          <a:solidFill>
            <a:srgbClr val="4E9290"/>
          </a:solidFill>
          <a:ln w="12700">
            <a:solidFill>
              <a:srgbClr val="4E92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4370832"/>
            <a:ext cx="4023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10241280" y="4270248"/>
            <a:ext cx="12984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WebBase / Recursive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0" y="4572000"/>
            <a:ext cx="12984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Docs URLs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458200" y="960120"/>
            <a:ext cx="2240280" cy="265176"/>
          </a:xfrm>
          <a:prstGeom prst="roundRect">
            <a:avLst>
              <a:gd name="adj" fmla="val 27586"/>
            </a:avLst>
          </a:prstGeom>
          <a:solidFill>
            <a:srgbClr val="CA6988"/>
          </a:solidFill>
          <a:ln w="10160">
            <a:solidFill>
              <a:srgbClr val="CA69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978408"/>
            <a:ext cx="209397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MODE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522208" y="1481328"/>
            <a:ext cx="2423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in one contract: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1792224"/>
            <a:ext cx="25146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LOADER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Document(s)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CHUNKS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EMBEDDINGS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 DB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03920" y="3179220"/>
            <a:ext cx="2331720" cy="0"/>
          </a:xfrm>
          <a:prstGeom prst="line">
            <a:avLst/>
          </a:prstGeom>
          <a:noFill/>
          <a:ln w="12700">
            <a:solidFill>
              <a:srgbClr val="1717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9620" y="3240337"/>
            <a:ext cx="27432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five supplied notebook PDFs and their supporting resources. Visual language follows the supplied slide theme: clean paper, bold labels, colored outlined cards, and flow arrows.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basis: csv_loader.ipynb • json_loader.ipynb • pdf_loader.ipynb • text_loader.ipynb • web_loader.ipynb</a:t>
            </a:r>
            <a:endParaRPr lang="en-US" sz="7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CORE MENTAL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71717"/>
                </a:solidFill>
              </a:rPr>
              <a:t>1. The common contract: every loader ends in Document(s)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2011680"/>
            <a:ext cx="2167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" y="2304288"/>
            <a:ext cx="216712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/ CSV / JSON / PDF / WEB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026664" y="2505456"/>
            <a:ext cx="292608" cy="0"/>
          </a:xfrm>
          <a:prstGeom prst="line">
            <a:avLst/>
          </a:prstGeom>
          <a:noFill/>
          <a:ln w="1778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92024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2011680"/>
            <a:ext cx="2167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02736" y="2304288"/>
            <a:ext cx="216712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Source-specific parser / crawler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907024" y="2505456"/>
            <a:ext cx="292608" cy="0"/>
          </a:xfrm>
          <a:prstGeom prst="line">
            <a:avLst/>
          </a:prstGeom>
          <a:noFill/>
          <a:ln w="1778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192024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011680"/>
            <a:ext cx="2167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2304288"/>
            <a:ext cx="216712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page_content + metadata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787384" y="2505456"/>
            <a:ext cx="292608" cy="0"/>
          </a:xfrm>
          <a:prstGeom prst="line">
            <a:avLst/>
          </a:prstGeom>
          <a:noFill/>
          <a:ln w="1778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92024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2011680"/>
            <a:ext cx="2167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63456" y="2304288"/>
            <a:ext cx="216712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→ embed → retrieve → answer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40080" y="3456432"/>
            <a:ext cx="54406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547872"/>
            <a:ext cx="51846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Document anatomy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" y="3840480"/>
            <a:ext cx="5184648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page_content = "what we search / embed",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metadata = {"source": ..., ...}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36792" y="3566160"/>
            <a:ext cx="5184648" cy="1554480"/>
          </a:xfrm>
          <a:prstGeom prst="roundRect">
            <a:avLst>
              <a:gd name="adj" fmla="val 2941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639312"/>
            <a:ext cx="498348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langchain_core.documents import Document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Document(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page_content="...",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metadata={"source": "..."}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36792" y="5321808"/>
            <a:ext cx="5184648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533095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5340096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≠ chunker. A loader creates Documents; chunking happens after loading unless a loader explicitly offers a splitting mode.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evidence: TextLoader returns a list whose first item is langchain_core.documents.Document; CSV/JSON/PDF/Web loaders also return Document objects.</a:t>
            </a:r>
            <a:endParaRPr lang="en-US" sz="7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717"/>
                </a:solidFill>
              </a:rPr>
              <a:t>2. TextLoader — one text file becomes one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27048"/>
            <a:ext cx="5715000" cy="2423160"/>
          </a:xfrm>
          <a:prstGeom prst="roundRect">
            <a:avLst>
              <a:gd name="adj" fmla="val 1887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00200"/>
            <a:ext cx="5513832" cy="22768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pprint import pp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TextLoader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 = Path("../knowledge-source/transformers.txt")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TextLoader(file_path=file_path)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537960" y="1527048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65976" y="1618488"/>
            <a:ext cx="1984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5976" y="1911096"/>
            <a:ext cx="198424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len(documents) = 1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8979408" y="1527048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07424" y="1618488"/>
            <a:ext cx="2231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07424" y="1911096"/>
            <a:ext cx="22311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list[Document]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6537960" y="2761488"/>
            <a:ext cx="49286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852928"/>
            <a:ext cx="4672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document[0]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65976" y="3145536"/>
            <a:ext cx="4672584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page_content = entire transformers.txt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= {"source": "…/transformers.txt"}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58368" y="4187952"/>
            <a:ext cx="20116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3F7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79976"/>
            <a:ext cx="16824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transformers.txt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16824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sections + notes + MCQs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4663440"/>
            <a:ext cx="1115568" cy="0"/>
          </a:xfrm>
          <a:prstGeom prst="line">
            <a:avLst/>
          </a:prstGeom>
          <a:noFill/>
          <a:ln w="25400">
            <a:solidFill>
              <a:srgbClr val="3F7FB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59352" y="4078224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6510">
            <a:solidFill>
              <a:srgbClr val="876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4270248"/>
            <a:ext cx="157276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5968" y="4599432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file 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4462272"/>
            <a:ext cx="492861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7145">
            <a:solidFill>
              <a:srgbClr val="4E92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4553712"/>
            <a:ext cx="46725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(conceptual)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665976" y="4846320"/>
            <a:ext cx="467258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open/read file → decode text → build Document(page_content=text, metadata={source=file_path})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658368" y="5596128"/>
            <a:ext cx="2377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RAG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58368" y="5797296"/>
            <a:ext cx="10771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expect TextLoader to create semantic chunks. One source file → one Document is the notebook’s intended behavior; use a text splitter afterward.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Notebook: text_loader.ipynb — path exists=True, types verified, len(documents)=1, metadata contains source.</a:t>
            </a:r>
            <a:endParaRPr lang="en-US" sz="7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CSV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717"/>
                </a:solidFill>
              </a:rPr>
              <a:t>3. CSVLoader — one row becomes one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35608"/>
            <a:ext cx="5989320" cy="2971800"/>
          </a:xfrm>
          <a:prstGeom prst="roundRect">
            <a:avLst>
              <a:gd name="adj" fmla="val 1538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08760"/>
            <a:ext cx="5788152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langchain_community.document_loaders.csv_loader import CSVLoader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CSVLoader(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source_column="Industry",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metadata_columns=["Website", "Founded", "Number of employees"],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content_columns=["Description"]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6812280" y="1435608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0296" y="1527048"/>
            <a:ext cx="4498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0296" y="1819656"/>
            <a:ext cx="449884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organizations.csv → 1000 Documents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12280" y="2670048"/>
            <a:ext cx="4754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0296" y="2761488"/>
            <a:ext cx="4498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0 page_content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6940296" y="3054096"/>
            <a:ext cx="44988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Ergonomic zero administration knowledge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4114800"/>
            <a:ext cx="475488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0296" y="4206240"/>
            <a:ext cx="4498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0 metadata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940296" y="4498848"/>
            <a:ext cx="4498848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= "Online Publishing"  ← source_column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Founded / Number of employees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473659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5C9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→ DOCUMENT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58368" y="5074920"/>
            <a:ext cx="713232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138928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" y="5340096"/>
            <a:ext cx="6035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417320" y="5074920"/>
            <a:ext cx="1417320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72184" y="5138928"/>
            <a:ext cx="1307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72184" y="5340096"/>
            <a:ext cx="13075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Publishing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880360" y="5074920"/>
            <a:ext cx="2057400" cy="612648"/>
          </a:xfrm>
          <a:prstGeom prst="roundRect">
            <a:avLst>
              <a:gd name="adj" fmla="val 5970"/>
            </a:avLst>
          </a:prstGeom>
          <a:solidFill>
            <a:srgbClr val="EAF4EA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5138928"/>
            <a:ext cx="1947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35224" y="5340096"/>
            <a:ext cx="1947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Ergonomic zero…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983480" y="5074920"/>
            <a:ext cx="822960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51389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38344" y="5340096"/>
            <a:ext cx="71323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4928616" y="5367528"/>
            <a:ext cx="11612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8368" y="5760720"/>
            <a:ext cx="10835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knobs: source_column changes metadata["source"]; metadata_columns stay out of page_content; content_columns define which columns become content.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LangChain Reference: CSVLoader documents one row as one Document and supports source_column, metadata_columns, and content_columns.</a:t>
            </a:r>
            <a:endParaRPr lang="en-US" sz="7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JSON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71717"/>
                </a:solidFill>
              </a:rPr>
              <a:t>4. JSONLoader — select records with jq, then shape each Document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6446520" cy="4160520"/>
          </a:xfrm>
          <a:prstGeom prst="roundRect">
            <a:avLst>
              <a:gd name="adj" fmla="val 1099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17320"/>
            <a:ext cx="6245352" cy="4014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langchain_community.document_loaders.json_loader import JSONLoader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metadata_func(record, metadata):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metadata["product_name"] = record["productName"]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metadata["category"] = record["category"]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metadata["price"] = record["price"]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metadata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JSONLoader(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file_path=file_path.as_posix(),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jq_schema=".products[]",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content_key="Description",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metadata_func=metadata_func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920" dirty="0"/>
          </a:p>
        </p:txBody>
      </p:sp>
      <p:pic>
        <p:nvPicPr>
          <p:cNvPr id="6" name="Image 0" descr="/mnt/data/apparel_json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99032"/>
            <a:ext cx="4251960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05472" y="327355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87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JSON SHAPE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7205472" y="3502152"/>
            <a:ext cx="4251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"products": [ { "productID": "0000001", "productName": "PINSTRIPE COAT", "Description": "…", "price": 4900, "category": "Men Cloths" }, … ] }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7178040" y="434340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06056" y="4434840"/>
            <a:ext cx="3995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7306056" y="4727448"/>
            <a:ext cx="399592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len(documents) = 5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 object → one Document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page_content = Description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7178040" y="5577840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06056" y="5669280"/>
            <a:ext cx="3995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06056" y="5961888"/>
            <a:ext cx="3995928" cy="27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seq_num + product_name + category + price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621792" y="5650992"/>
            <a:ext cx="1993392" cy="265176"/>
          </a:xfrm>
          <a:prstGeom prst="roundRect">
            <a:avLst>
              <a:gd name="adj" fmla="val 27586"/>
            </a:avLst>
          </a:prstGeom>
          <a:solidFill>
            <a:srgbClr val="8768A8"/>
          </a:solidFill>
          <a:ln w="10160">
            <a:solidFill>
              <a:srgbClr val="8768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5669280"/>
            <a:ext cx="18470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jq_schema = what records?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24912" y="5650992"/>
            <a:ext cx="1993392" cy="265176"/>
          </a:xfrm>
          <a:prstGeom prst="roundRect">
            <a:avLst>
              <a:gd name="adj" fmla="val 27586"/>
            </a:avLst>
          </a:prstGeom>
          <a:solidFill>
            <a:srgbClr val="3F7FB3"/>
          </a:solidFill>
          <a:ln w="10160">
            <a:solidFill>
              <a:srgbClr val="3F7FB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98064" y="5669280"/>
            <a:ext cx="18470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content_key = what text?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28032" y="5650992"/>
            <a:ext cx="1993392" cy="265176"/>
          </a:xfrm>
          <a:prstGeom prst="roundRect">
            <a:avLst>
              <a:gd name="adj" fmla="val 27586"/>
            </a:avLst>
          </a:prstGeom>
          <a:solidFill>
            <a:srgbClr val="5C9B55"/>
          </a:solidFill>
          <a:ln w="10160">
            <a:solidFill>
              <a:srgbClr val="5C9B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5669280"/>
            <a:ext cx="18470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metadata_func = enrich?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Notebook: .products[] selects each product; content_key="Description" supplies page_content; metadata_func adds product fields.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PDF FAMILY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71717"/>
                </a:solidFill>
              </a:rPr>
              <a:t>5. PDF loaders — same PDF, different extraction engines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21792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input: attention_is_all_you_need.pdf → 15 pages. With mode="page", each page is exposed as a Document.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594360" y="2130552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PyPDFLoader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" y="2514600"/>
            <a:ext cx="3291840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pypdf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role: page + optional image extraction/OCR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98264" y="2130552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PDFMinerLoader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514600"/>
            <a:ext cx="3291840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pdfminer.six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role: page + optional image extraction/OCR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02168" y="2130552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PDFPlumberLoader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0184" y="2514600"/>
            <a:ext cx="3291840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pdfplumber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role: text extraction + metadata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21792" y="4069080"/>
            <a:ext cx="2057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PDF PIPELINE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58368" y="4416552"/>
            <a:ext cx="190195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7145">
            <a:solidFill>
              <a:srgbClr val="1717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bytes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578608" y="4837176"/>
            <a:ext cx="228600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98648" y="4416552"/>
            <a:ext cx="190195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3026664" y="4800600"/>
            <a:ext cx="164592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engine-specific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818888" y="4837176"/>
            <a:ext cx="228600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4416552"/>
            <a:ext cx="190195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Per-page text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059168" y="4837176"/>
            <a:ext cx="228600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79208" y="4416552"/>
            <a:ext cx="190195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metadata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299448" y="4837176"/>
            <a:ext cx="228600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4416552"/>
            <a:ext cx="1901952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47504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OCR / images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9747504" y="4800600"/>
            <a:ext cx="164592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path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58368" y="5541264"/>
            <a:ext cx="10835640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550408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6696" y="5559552"/>
            <a:ext cx="104150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evidence: PyPDF/PDFMiner/PDFPlumber all return 15 docs for the 15-page PDF, but extracted text and structure differ.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658368" y="5971032"/>
            <a:ext cx="108082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framing: “The loader is an integration boundary. The underlying engine determines how text, layout, tables, and images get reconstructed.”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LangChain Reference lists PyPDFLoader→pypdf, PDFMinerLoader→pdfminer.six, PDFPlumberLoader→pdfplumber.</a:t>
            </a:r>
            <a:endParaRPr lang="en-US" sz="7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PDF • PYPDF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717"/>
                </a:solidFill>
              </a:rPr>
              <a:t>6. PyPDFLoader — page mode + metadata indexing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5696712" cy="2578608"/>
          </a:xfrm>
          <a:prstGeom prst="roundRect">
            <a:avLst>
              <a:gd name="adj" fmla="val 1773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26464"/>
            <a:ext cx="5495544" cy="2432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langchain_community.document_loaders.pdf import PyPDFLoader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 = Path("../knowledge-source/attention_is_all_you_need.pdf")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pypdf_loader = PyPDFLoader(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file_path=file_path.as_posix(),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mode="page"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pypdf_loader.load()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6537960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3F7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MAPPING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537960" y="168249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5976" y="1773936"/>
            <a:ext cx="45902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documents[0]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665976" y="2066544"/>
            <a:ext cx="45902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 1  |  page=0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245059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5976" y="2542032"/>
            <a:ext cx="45902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documents[1]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665976" y="2834640"/>
            <a:ext cx="45902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 2  |  page=1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37960" y="321868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3310128"/>
            <a:ext cx="45902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documents[2]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665976" y="3602736"/>
            <a:ext cx="45902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 3  |  page=2 • page_label="3"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6967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315968"/>
            <a:ext cx="5440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notebook inspected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694944" y="4608576"/>
            <a:ext cx="5440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len(documents) → 15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documents[2].page_content → Transformer architecture text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documents[2].metadata → source, total_pages, page, page_label + PDF metadata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37960" y="4206240"/>
            <a:ext cx="4846320" cy="1700784"/>
          </a:xfrm>
          <a:prstGeom prst="roundRect">
            <a:avLst>
              <a:gd name="adj" fmla="val 2688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4279392"/>
            <a:ext cx="464515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"…attention_is_all_you_need.pdf",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"total_pages": 15,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"page": 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"page_label": "3",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"creator": "LaTeX with hyperref"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5925312"/>
            <a:ext cx="10817352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934456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" y="5943600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comment says “fetch the first page” but uses documents[2] — that is the third PDF page (Python is 0-based).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Notebook: mode="page" produces 15 Documents; metadata shows zero-based page index and human-facing page_label.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PDF • IMAGE / OCR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71717"/>
                </a:solidFill>
              </a:rPr>
              <a:t>7. PyPDFLoader + RapidOCR — recover text from images inside the PDF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806440" cy="2834640"/>
          </a:xfrm>
          <a:prstGeom prst="roundRect">
            <a:avLst>
              <a:gd name="adj" fmla="val 1613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44752"/>
            <a:ext cx="5605272" cy="2688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langchain_community.document_loaders.parsers import RapidOCRBlobParser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pypdf_image_loader = PyPDFLoader(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file_path=file_path.as_posix(),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mode="page",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extract_images=True,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images_parser=RapidOCRBlobParser(),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images_inner_format="html-img"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documents_with_images = pypdf_image_loader.load()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6419088" y="1572768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04" y="1664208"/>
            <a:ext cx="676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7370064" y="2029968"/>
            <a:ext cx="100584" cy="0"/>
          </a:xfrm>
          <a:prstGeom prst="line">
            <a:avLst/>
          </a:prstGeom>
          <a:noFill/>
          <a:ln w="1270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79792" y="1572768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07808" y="1664208"/>
            <a:ext cx="676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image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8430768" y="2029968"/>
            <a:ext cx="100584" cy="0"/>
          </a:xfrm>
          <a:prstGeom prst="line">
            <a:avLst/>
          </a:prstGeom>
          <a:noFill/>
          <a:ln w="1270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40496" y="1572768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1664208"/>
            <a:ext cx="676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RapidOCR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668512" y="1956816"/>
            <a:ext cx="6766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ONNXRuntime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9491472" y="2029968"/>
            <a:ext cx="100584" cy="0"/>
          </a:xfrm>
          <a:prstGeom prst="line">
            <a:avLst/>
          </a:prstGeom>
          <a:noFill/>
          <a:ln w="1270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1572768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1664208"/>
            <a:ext cx="676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text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10552176" y="2029968"/>
            <a:ext cx="100584" cy="0"/>
          </a:xfrm>
          <a:prstGeom prst="line">
            <a:avLst/>
          </a:prstGeom>
          <a:noFill/>
          <a:ln w="1270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61904" y="1572768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145">
            <a:solidFill>
              <a:srgbClr val="CA69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0" y="1664208"/>
            <a:ext cx="6766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content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583680" y="2871216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2962656"/>
            <a:ext cx="45902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evidence on PDF page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11696" y="3255264"/>
            <a:ext cx="459028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contains &lt;img alt="Output …&gt; plus OCR-like labels: Softmax, Linear, Add &amp; Norm, Feed Forward, Multi-Head Attention, Positional Encoding, Embedding.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4443984"/>
            <a:ext cx="5468112" cy="1271016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7145">
            <a:solidFill>
              <a:srgbClr val="4E92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535424"/>
            <a:ext cx="5212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RapidOCR is doing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" y="4828032"/>
            <a:ext cx="521208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PDF parser extracts image blobs; the image parser runs OCR; images_inner_format="html-img" tells the loader how the image/OCR result is represented inside page_content.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6236208" y="4443984"/>
            <a:ext cx="5212080" cy="1271016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7145">
            <a:solidFill>
              <a:srgbClr val="CA69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535424"/>
            <a:ext cx="4956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RAG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64224" y="4828032"/>
            <a:ext cx="4956048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figure may contain labels or facts that are not in the PDF’s text layer. Without an image/OCR path, those tokens can disappear before chunking and embedding.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566928" y="5815584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097280" y="5797296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 imports TesseractBlobParser too, but the configured loader actually uses RapidOCRBlobParser.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logs show RapidOCR using ONNXRuntime and PP-OCRv6 detection/recognition models.</a:t>
            </a:r>
            <a:endParaRPr lang="en-US" sz="7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PDF • PDFMINER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71717"/>
                </a:solidFill>
              </a:rPr>
              <a:t>8. PDFMinerLoader — alternate PDF text parser + the same OCR hook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742432" cy="2697480"/>
          </a:xfrm>
          <a:prstGeom prst="roundRect">
            <a:avLst>
              <a:gd name="adj" fmla="val 1695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44752"/>
            <a:ext cx="5541264" cy="2551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PDFMinerLoader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PDFMinerLoader(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file_path=file_path.as_posix(),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mode="page",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extract_images=True,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images_parser=RapidOCRBlobParser(),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images_inner_format="html-img"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documents_with_images = loader.load()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65392" y="1371600"/>
            <a:ext cx="2788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— OBSERVED EXTRACTED TEXT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565392" y="1673352"/>
            <a:ext cx="4846320" cy="2029968"/>
          </a:xfrm>
          <a:prstGeom prst="roundRect">
            <a:avLst>
              <a:gd name="adj" fmla="val 2252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5976" y="1746504"/>
            <a:ext cx="4645152" cy="1883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Type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Self-Attention      O(n²·d)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Recurrent           O(n·d²)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Convolutional       O(k·n·d²)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Restricted SA       O(r·n·d)</a:t>
            </a:r>
            <a:endParaRPr lang="en-US" sz="870" dirty="0"/>
          </a:p>
          <a:p>
            <a:pPr marL="0" indent="0">
              <a:buNone/>
            </a:pP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 Operations / Max Path Length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/ O(1)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 / O(n)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/ O(logₖ n)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/ O(n/r)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66928" y="4370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4462272"/>
            <a:ext cx="3310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94944" y="4754880"/>
            <a:ext cx="3310128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len(documents_with_images) = 15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image OCR appears in content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table text is extractable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34256" y="4370832"/>
            <a:ext cx="351129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4462272"/>
            <a:ext cx="3255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462272" y="4754880"/>
            <a:ext cx="3255264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pdfminer.six reconstructs page text; the loader can also hand extracted images to RapidOCR and append the image representation.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0" y="4370832"/>
            <a:ext cx="338328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7145">
            <a:solidFill>
              <a:srgbClr val="CA69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4462272"/>
            <a:ext cx="3127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caution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174736" y="4754880"/>
            <a:ext cx="3127248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table’s cell relationships are flattened into text. Content survives, but row/column semantics may be harder to recover.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0835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76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notebook check: doc.metadata["page"] == 7 targets PDF page 8 and prints Table 2 (BLEU / training-cost results).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specifically prints page-3 image OCR and Table 1 text; current reference confirms PDFMinerLoader wraps pdfminer.six and supports image extraction.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PDF • PDFPLUMBER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71717"/>
                </a:solidFill>
              </a:rPr>
              <a:t>9. PDFPlumberLoader — text extraction with a visible reading-order pitfall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40680" cy="2029968"/>
          </a:xfrm>
          <a:prstGeom prst="roundRect">
            <a:avLst>
              <a:gd name="adj" fmla="val 2252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63040"/>
            <a:ext cx="5239512" cy="1883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PDFPlumberLoader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plumber_loader = PDFPlumberLoader(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file_path=file_path.as_posix()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documents_with_metadata = plumber_loader.load()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len(documents_with_metadata)  # 15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6291072" y="1389888"/>
            <a:ext cx="51480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9088" y="1481328"/>
            <a:ext cx="4892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metadata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19088" y="1773936"/>
            <a:ext cx="4892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• file_path • page • total_pages • Author / CreationDate / Creator / …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66928" y="3712464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C8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PAGE-2 TEXT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050792"/>
            <a:ext cx="5376672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Recurrentneuralnetworks,longshort-termmemory…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Attentionmechanismshavebecomeanintegralpart…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ModelArchitecture…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419088" y="3657600"/>
            <a:ext cx="5020056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7145">
            <a:solidFill>
              <a:srgbClr val="C84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3749040"/>
            <a:ext cx="4764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demonstrates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547104" y="4041648"/>
            <a:ext cx="4764024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notebook’s extracted sample shows words joined together (e.g., “Recurrentneuralnetworks”), a reading/spacing quality issue even though the underlying page text is present.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566928" y="5687568"/>
            <a:ext cx="10863072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696712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" y="5705856"/>
            <a:ext cx="10442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takeaway: “Extraction quality is not just document count. Reading order, whitespace, tables and figures affect downstream retrieval.”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for documents_with_metadata[1].page_content visibly contains joined words; metadata is richer/different in shape from PyPDF’s sample.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WEB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717"/>
                </a:solidFill>
              </a:rPr>
              <a:t>10. WebBaseLoader — load known URLs into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5623560" cy="2514600"/>
          </a:xfrm>
          <a:prstGeom prst="roundRect">
            <a:avLst>
              <a:gd name="adj" fmla="val 1818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26464"/>
            <a:ext cx="5422392" cy="2368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WebBaseLoader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url_1 = "…/pypdfloader"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url_2 = "…/pdfminer"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url_3 = "…/pdfplumber"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WebBaseLoader(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web_paths=[url_1, url_2, url_3]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46520" y="1353312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7145">
            <a:solidFill>
              <a:srgbClr val="4E92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4536" y="1444752"/>
            <a:ext cx="207568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74536" y="1737360"/>
            <a:ext cx="20756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URLs → 3 Documents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997696" y="1353312"/>
            <a:ext cx="24505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25712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25712" y="1737360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parser (notebook output shows language metadata)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46520" y="2578608"/>
            <a:ext cx="5001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2670048"/>
            <a:ext cx="47457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2 metadata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574536" y="2962656"/>
            <a:ext cx="47457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= …/pdfplumber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= “No language found.”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66928" y="4224528"/>
            <a:ext cx="1600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4E9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58368" y="457200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663440"/>
            <a:ext cx="1984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GET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2916936" y="4956048"/>
            <a:ext cx="246888" cy="0"/>
          </a:xfrm>
          <a:prstGeom prst="line">
            <a:avLst/>
          </a:prstGeom>
          <a:noFill/>
          <a:ln w="1524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01568" y="457200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4663440"/>
            <a:ext cx="1984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bytes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5660136" y="4956048"/>
            <a:ext cx="246888" cy="0"/>
          </a:xfrm>
          <a:prstGeom prst="line">
            <a:avLst/>
          </a:prstGeom>
          <a:noFill/>
          <a:ln w="1524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44768" y="457200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4663440"/>
            <a:ext cx="1984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parser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6272784" y="4956048"/>
            <a:ext cx="1984248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+ metadata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03336" y="4956048"/>
            <a:ext cx="246888" cy="0"/>
          </a:xfrm>
          <a:prstGeom prst="line">
            <a:avLst/>
          </a:prstGeom>
          <a:noFill/>
          <a:ln w="1524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87968" y="457200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5984" y="4663440"/>
            <a:ext cx="19842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658368" y="5532120"/>
            <a:ext cx="10771632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541264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6696" y="5550408"/>
            <a:ext cx="1035100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warnings: USER_AGENT was not set. RecursiveUrlLoader also emitted XMLParsedAsHTMLWarning while parsing a discovered XML-like resource with an HTML parser.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Notebook: WebBaseLoader(web_paths=[…]) → len(documents)=3; metadata observed includes source and language.</a:t>
            </a:r>
            <a:endParaRPr lang="en-US" sz="7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WEB • RECURSIVE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71717"/>
                </a:solidFill>
              </a:rPr>
              <a:t>11. RecursiveUrlLoader — crawl links, then stream with lazy_load()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897880" cy="2359152"/>
          </a:xfrm>
          <a:prstGeom prst="roundRect">
            <a:avLst>
              <a:gd name="adj" fmla="val 1938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99032"/>
            <a:ext cx="5696712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RecursiveUrlLoader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 = "https://docs.langchain.com/oss/python/integrations/document_loaders"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RecursiveUrlLoader(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url=base_url,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max_depth=2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len(documents)  # 79 in notebook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6766560" y="1344168"/>
            <a:ext cx="1417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4E9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MODEL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748272" y="1664208"/>
            <a:ext cx="18470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288" y="1755648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76288" y="2048256"/>
            <a:ext cx="15910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13648" y="2011680"/>
            <a:ext cx="37490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15984" y="1664208"/>
            <a:ext cx="18470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755648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0" y="2048256"/>
            <a:ext cx="15910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pages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015984" y="2468880"/>
            <a:ext cx="0" cy="374904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2907792"/>
            <a:ext cx="184708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2999232"/>
            <a:ext cx="15910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2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403336" y="3291840"/>
            <a:ext cx="15910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pages of links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48272" y="2907792"/>
            <a:ext cx="124358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999232"/>
            <a:ext cx="987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3291840"/>
            <a:ext cx="9875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66928" y="4069080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7145">
            <a:solidFill>
              <a:srgbClr val="C84C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160520"/>
            <a:ext cx="52029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content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" y="4453128"/>
            <a:ext cx="520293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documents[0].page_content[:500] starts with raw HTML: &lt;!DOCTYPE html&gt;&lt;html …&gt;</a:t>
            </a:r>
            <a:endParaRPr lang="en-US" sz="990" dirty="0"/>
          </a:p>
          <a:p>
            <a:pPr marL="0" indent="0">
              <a:buNone/>
            </a:pPr>
            <a:r>
              <a:rPr lang="en-US" sz="9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includes source, content_type, title, description, language.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51389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7145">
            <a:solidFill>
              <a:srgbClr val="CA69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4160520"/>
            <a:ext cx="48828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crawl pitfall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37376" y="4453128"/>
            <a:ext cx="48828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79 results include HTML assets and even CSS/JS sources in the notebook output. A recursive crawler needs scope / filtering to keep RAG ingestion clean.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566928" y="5440680"/>
            <a:ext cx="5458968" cy="868680"/>
          </a:xfrm>
          <a:prstGeom prst="roundRect">
            <a:avLst>
              <a:gd name="adj" fmla="val 5263"/>
            </a:avLst>
          </a:prstGeom>
          <a:solidFill>
            <a:srgbClr val="F3F1EC"/>
          </a:solidFill>
          <a:ln w="10160">
            <a:solidFill>
              <a:srgbClr val="D5D0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513832"/>
            <a:ext cx="525780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docs_lazy = loader.lazy_load()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a generator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document in docs_lazy: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print(document.page_content[:300])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counter == 20: break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309360" y="5449824"/>
            <a:ext cx="51389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5541264"/>
            <a:ext cx="48828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lazy_load()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6437376" y="5833872"/>
            <a:ext cx="488289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documents incrementally instead of materializing the entire crawl up front; notebook demonstrates a 20-document stop condition.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Notebook: max_depth=2, len(documents)=79, page_content begins as raw HTML, lazy_load() returns a generator.</a:t>
            </a:r>
            <a:endParaRPr lang="en-US" sz="7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COMPARISON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717"/>
                </a:solidFill>
              </a:rPr>
              <a:t>12. Five loaders — side-by-side interview 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1481328" cy="420624"/>
          </a:xfrm>
          <a:prstGeom prst="roundRect">
            <a:avLst>
              <a:gd name="adj" fmla="val 869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2704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2148840" y="1426464"/>
            <a:ext cx="1481328" cy="420624"/>
          </a:xfrm>
          <a:prstGeom prst="roundRect">
            <a:avLst>
              <a:gd name="adj" fmla="val 869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1527048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unit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767328" y="1426464"/>
            <a:ext cx="2395728" cy="420624"/>
          </a:xfrm>
          <a:prstGeom prst="roundRect">
            <a:avLst>
              <a:gd name="adj" fmla="val 869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527048"/>
            <a:ext cx="22677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granularity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00800" y="1426464"/>
            <a:ext cx="1965960" cy="420624"/>
          </a:xfrm>
          <a:prstGeom prst="roundRect">
            <a:avLst>
              <a:gd name="adj" fmla="val 869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27048"/>
            <a:ext cx="18379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knobs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595360" y="1426464"/>
            <a:ext cx="3035808" cy="420624"/>
          </a:xfrm>
          <a:prstGeom prst="roundRect">
            <a:avLst>
              <a:gd name="adj" fmla="val 869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9368" y="1527048"/>
            <a:ext cx="2907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evidence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1920240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98424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F7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TextLoader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48840" y="1920240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198424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794760" y="1920240"/>
            <a:ext cx="23957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1984248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file → 1 doc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1965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984248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file_path; encoding-related options exist in current API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485632" y="1920240"/>
            <a:ext cx="303580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1984248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len=1; entire .txt in page_content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02920" y="2487168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255117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9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CSVLoader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48840" y="2487168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255117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794760" y="2487168"/>
            <a:ext cx="23957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2551176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→ 1 doc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355080" y="2487168"/>
            <a:ext cx="1965960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551176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source_column; metadata_columns; content_columns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8485632" y="2487168"/>
            <a:ext cx="303580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2551176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len=1000; row 0 shown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02920" y="3054096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3118104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7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JSONLoader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48840" y="3054096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03704" y="3118104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jq-selected object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794760" y="3054096"/>
            <a:ext cx="23957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3118104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selected object → 1 doc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355080" y="3054096"/>
            <a:ext cx="1965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3118104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jq_schema; content_key; metadata_func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485632" y="3054096"/>
            <a:ext cx="303580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0496" y="3118104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len=5; Description + custom metadata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3621024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685032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PyPDFLoader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48840" y="3621024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03704" y="3685032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3794760" y="3621024"/>
            <a:ext cx="23957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9624" y="3685032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page → 1 doc in mode="page"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355080" y="3621024"/>
            <a:ext cx="1965960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9944" y="3685032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mode; extract_images; images_parser; images_inner_format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485632" y="3621024"/>
            <a:ext cx="303580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0496" y="3685032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len=15; OCR + figure text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502920" y="4187952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" y="4251960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PDFMiner / Plumber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148840" y="4187952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03704" y="4251960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3794760" y="4187952"/>
            <a:ext cx="23957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9624" y="4251960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page → 1 doc in page mode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6355080" y="4187952"/>
            <a:ext cx="1965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9944" y="4251960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engine-specific PDF parsing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8485632" y="4187952"/>
            <a:ext cx="303580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0496" y="4251960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docs; table / spacing differences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502920" y="4754880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" y="481888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E9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WebBaseLoader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148840" y="4754880"/>
            <a:ext cx="14813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03704" y="481888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3794760" y="4754880"/>
            <a:ext cx="239572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9624" y="4818888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URL → 1 doc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6355080" y="4754880"/>
            <a:ext cx="1965960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9944" y="4818888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web_paths; headers; SSL/proxy/RPS knobs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8485632" y="4754880"/>
            <a:ext cx="3035808" cy="530352"/>
          </a:xfrm>
          <a:prstGeom prst="rect">
            <a:avLst/>
          </a:prstGeom>
          <a:solidFill>
            <a:srgbClr val="F6F3ED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40496" y="4818888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docs; source/language metadata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502920" y="5321808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7784" y="538581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A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RecursiveUrlLoader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148840" y="5321808"/>
            <a:ext cx="14813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03704" y="538581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URL tree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3794760" y="5321808"/>
            <a:ext cx="239572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9624" y="5385816"/>
            <a:ext cx="22860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crawled page/resource → 1 doc</a:t>
            </a:r>
            <a:endParaRPr lang="en-US" sz="870" dirty="0"/>
          </a:p>
        </p:txBody>
      </p:sp>
      <p:sp>
        <p:nvSpPr>
          <p:cNvPr id="80" name="Shape 78"/>
          <p:cNvSpPr/>
          <p:nvPr/>
        </p:nvSpPr>
        <p:spPr>
          <a:xfrm>
            <a:off x="6355080" y="5321808"/>
            <a:ext cx="1965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9944" y="5385816"/>
            <a:ext cx="18562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url; max_depth; lazy_load</a:t>
            </a:r>
            <a:endParaRPr lang="en-US" sz="870" dirty="0"/>
          </a:p>
        </p:txBody>
      </p:sp>
      <p:sp>
        <p:nvSpPr>
          <p:cNvPr id="82" name="Shape 80"/>
          <p:cNvSpPr/>
          <p:nvPr/>
        </p:nvSpPr>
        <p:spPr>
          <a:xfrm>
            <a:off x="8485632" y="5321808"/>
            <a:ext cx="3035808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5D0C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540496" y="5385816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docs; raw HTML + generator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502920" y="5989320"/>
            <a:ext cx="11064240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4360" y="5998464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41248" y="6007608"/>
            <a:ext cx="106436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heuristic: first identify the source’s natural unit (file / row / object / page / URL), then choose the loader and configure how much becomes page_content vs metadata.</a:t>
            </a:r>
            <a:endParaRPr lang="en-US" sz="960" dirty="0"/>
          </a:p>
        </p:txBody>
      </p:sp>
      <p:sp>
        <p:nvSpPr>
          <p:cNvPr id="87" name="Text 85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reference checked 24 Sep 2026; notebook outputs preserved as observed evidence rather than re-benchmarked here.</a:t>
            </a:r>
            <a:endParaRPr lang="en-US" sz="72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58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3F7FB3"/>
                </a:solidFill>
              </a:rPr>
              <a:t>INTERVIEW CHEAT SHEET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71717"/>
                </a:solidFill>
              </a:rPr>
              <a:t>13. Final revision: how to explain any loader in 60 seconds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97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source?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94944" y="1801368"/>
            <a:ext cx="24414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/ CSV / JSON / PDF / Web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419856" y="1417320"/>
            <a:ext cx="2697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becomes one Document?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3547872" y="1801368"/>
            <a:ext cx="24414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/ row / object / page / URL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272784" y="1417320"/>
            <a:ext cx="2697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Where does structure go?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00800" y="1801368"/>
            <a:ext cx="24414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page_content vs metadata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25712" y="1417320"/>
            <a:ext cx="26974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1508760"/>
            <a:ext cx="24414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can go wrong?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253728" y="1801368"/>
            <a:ext cx="2441448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/ layout / OCR / tables / crawl scope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66928" y="3035808"/>
            <a:ext cx="1280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CA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HAND-OFF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167128" y="3803904"/>
            <a:ext cx="19202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59736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5C9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Document(s)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059936" y="3803904"/>
            <a:ext cx="19202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52544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876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splitter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52744" y="3803904"/>
            <a:ext cx="19202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45352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45552" y="3803904"/>
            <a:ext cx="19202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38160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4E92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738360" y="3803904"/>
            <a:ext cx="192024" cy="0"/>
          </a:xfrm>
          <a:prstGeom prst="line">
            <a:avLst/>
          </a:prstGeom>
          <a:noFill/>
          <a:ln w="1397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30968" y="3383280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145">
            <a:solidFill>
              <a:srgbClr val="CA69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58984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/ LLM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66928" y="4553712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145">
            <a:solidFill>
              <a:srgbClr val="3F7F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4645152"/>
            <a:ext cx="51846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this about Text / CSV / JSON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694944" y="4937760"/>
            <a:ext cx="5184648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loader converts source-native records into LangChain Documents, and I control what becomes searchable page_content versus filterable metadata.”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4553712"/>
            <a:ext cx="5193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145">
            <a:solidFill>
              <a:srgbClr val="C982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this about PDF / Web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6364224" y="4937760"/>
            <a:ext cx="493776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“PDF loaders depend on extraction engines; OCR and layout affect recall. Web loaders add HTTP/parsing, and recursive crawlers need depth and scope controls.”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907024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FFF5D7"/>
          </a:solidFill>
          <a:ln w="12700">
            <a:solidFill>
              <a:srgbClr val="E6B1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916168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" y="5925312"/>
            <a:ext cx="10460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loader quality is an ingestion concern. Bad extraction becomes bad chunks, bad embeddings, and eventually bad retrieval.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50292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B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preserves notebook-specific outputs and observations; current API names/semantics checked in LangChain Reference.</a:t>
            </a:r>
            <a:endParaRPr lang="en-US" sz="72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7736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3023</Words>
  <Application>Microsoft Office PowerPoint</Application>
  <PresentationFormat>Widescreen</PresentationFormat>
  <Paragraphs>436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— Text, CSV, JSON, PDF &amp; Web</dc:title>
  <dc:subject>LangChain Document Loaders — interview revision deck</dc:subject>
  <dc:creator>OpenAI</dc:creator>
  <cp:lastModifiedBy>Uttam</cp:lastModifiedBy>
  <cp:revision>2</cp:revision>
  <dcterms:created xsi:type="dcterms:W3CDTF">2026-09-24T10:08:25Z</dcterms:created>
  <dcterms:modified xsi:type="dcterms:W3CDTF">2026-09-24T10:19:30Z</dcterms:modified>
</cp:coreProperties>
</file>